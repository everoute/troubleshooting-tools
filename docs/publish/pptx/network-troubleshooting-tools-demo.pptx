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2862" y="1395413"/>
            <a:ext cx="7358277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网络故障排查工具集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031950" y="2887563"/>
            <a:ext cx="5079950" cy="5075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73936" y="3319314"/>
            <a:ext cx="55961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轻量、精确、易用的虚拟化网络监控方案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7254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5813" y="1143000"/>
            <a:ext cx="0" cy="314325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90625" y="1143000"/>
            <a:ext cx="73352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背景与设计考量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5813" y="1660475"/>
            <a:ext cx="0" cy="314325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25" y="1660475"/>
            <a:ext cx="73352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 Overview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5813" y="2177951"/>
            <a:ext cx="0" cy="314325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0625" y="2177951"/>
            <a:ext cx="73352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分析方法论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85813" y="2695426"/>
            <a:ext cx="0" cy="314325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0625" y="2695426"/>
            <a:ext cx="73352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实战应用案例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5813" y="3212902"/>
            <a:ext cx="0" cy="314325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90625" y="3212902"/>
            <a:ext cx="73352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性能测试数据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85813" y="3730377"/>
            <a:ext cx="0" cy="314325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90625" y="3730377"/>
            <a:ext cx="73352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演示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85813" y="4247852"/>
            <a:ext cx="0" cy="314325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90625" y="4247852"/>
            <a:ext cx="73352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结论与价值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145079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问题背景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77724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虚拟化网络架构的复杂度挑战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2000" y="1724025"/>
            <a:ext cx="7620000" cy="1518493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层软件组件</a:t>
            </a:r>
            <a:pPr algn="l" indent="0" marL="0">
              <a:lnSpc>
                <a:spcPts val="224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：VM → Virtio → Vhost → TUN/TAP → OVS → 物理网卡</a:t>
            </a:r>
            <a:endParaRPr lang="en-US" sz="1600" dirty="0"/>
          </a:p>
          <a:p>
            <a:pPr algn="l" marL="158750" indent="-158750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路径复杂</a:t>
            </a:r>
            <a:pPr algn="l" indent="0" marL="0">
              <a:lnSpc>
                <a:spcPts val="224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：TX/RX 双向路径、快速路径/慢速路径</a:t>
            </a:r>
            <a:endParaRPr lang="en-US" sz="1600" dirty="0"/>
          </a:p>
          <a:p>
            <a:pPr algn="l" marL="158750" indent="-158750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故障多样</a:t>
            </a:r>
            <a:pPr algn="l" indent="0" marL="0">
              <a:lnSpc>
                <a:spcPts val="224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：丢包、延迟、抖动、吞吐量下降</a:t>
            </a:r>
            <a:endParaRPr lang="en-US" sz="1600" dirty="0"/>
          </a:p>
          <a:p>
            <a:pPr algn="l" marL="158750" indent="-158750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量化困难</a:t>
            </a:r>
            <a:pPr algn="l" indent="0" marL="0">
              <a:lnSpc>
                <a:spcPts val="224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：传统工具只能看到宏观指标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217612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典型故障场景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7620000" cy="99938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85813" y="1143000"/>
            <a:ext cx="0" cy="999381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0125" y="1333500"/>
            <a:ext cx="7335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 1：偶发丢包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0125" y="1720751"/>
            <a:ext cx="7335203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网络偶发 0.1% 丢包，是网卡丢包还是 OVS 丢包？丢在哪个阶段？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294781"/>
            <a:ext cx="7620000" cy="99938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85813" y="2294781"/>
            <a:ext cx="0" cy="999381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0125" y="2485281"/>
            <a:ext cx="7335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 2：延迟突增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0125" y="2872532"/>
            <a:ext cx="7335203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ICMP 延迟突增至 200ms+，监控报告"丢包"，但真的是丢包吗？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2000" y="3446562"/>
            <a:ext cx="7620000" cy="99938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85813" y="3446562"/>
            <a:ext cx="0" cy="999381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0125" y="3637062"/>
            <a:ext cx="7335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 3：性能抖动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0125" y="4024313"/>
            <a:ext cx="7335203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OVS CPU 平均 15%，但业务报告周期性网络重传/高延迟抖动？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145079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设计目标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94618" y="1284238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87401" y="1167110"/>
            <a:ext cx="69304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简单易用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87401" y="1522661"/>
            <a:ext cx="693049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单工具单职责，开箱即用，输出清晰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19684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4618" y="2109639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87401" y="1992511"/>
            <a:ext cx="69304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轻量可控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87401" y="2348061"/>
            <a:ext cx="693049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性能开销极小，可持续运行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2000" y="2793802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94618" y="2935039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87401" y="2817912"/>
            <a:ext cx="69304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影响可控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87401" y="3173462"/>
            <a:ext cx="693049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通过过滤机制灵活调节资源占用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000" y="3619202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94618" y="3760440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87401" y="3643313"/>
            <a:ext cx="69304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模块化组合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87401" y="3998863"/>
            <a:ext cx="693049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分层清晰，多工具可组合诊断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243919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52951" y="1143000"/>
            <a:ext cx="92297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52951" y="1825526"/>
            <a:ext cx="9229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工具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40765" y="1143000"/>
            <a:ext cx="72517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040765" y="1825526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网络层次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32717" y="1143000"/>
            <a:ext cx="72517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132717" y="1825526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问题类型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2000" y="2390626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覆盖范围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2000" y="2895451"/>
            <a:ext cx="7620000" cy="1644253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层：virtio-net（NAPI 轮询、RX 路径）</a:t>
            </a:r>
            <a:endParaRPr lang="en-US" sz="1500" dirty="0"/>
          </a:p>
          <a:p>
            <a:pPr algn="l" marL="158750" indent="-15875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vhost 层：事件通知、队列关联、线程唤醒</a:t>
            </a:r>
            <a:endParaRPr lang="en-US" sz="1500" dirty="0"/>
          </a:p>
          <a:p>
            <a:pPr algn="l" marL="158750" indent="-15875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TUN/TAP 层：环形缓冲区监控、GSO 检测</a:t>
            </a:r>
            <a:endParaRPr lang="en-US" sz="1500" dirty="0"/>
          </a:p>
          <a:p>
            <a:pPr algn="l" marL="158750" indent="-15875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OVS 层：Upcall 延迟、Megaflow 追踪</a:t>
            </a:r>
            <a:endParaRPr lang="en-US" sz="1500" dirty="0"/>
          </a:p>
          <a:p>
            <a:pPr algn="l" marL="158750" indent="-15875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网络栈：丢包栈统计、队列跟踪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217612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核心工具矩阵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143000"/>
          <a:ext cx="8166050" cy="321305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3200400"/>
                <a:gridCol w="2560320"/>
              </a:tblGrid>
              <a:tr h="5355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问题类型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Summary 工具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Details 工具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覆盖问题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</a:tr>
              <a:tr h="5355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丢包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kernel_drop_stack_stats_summary_all.py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eth_drop.py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内核丢包位置、丢包原因分析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延迟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system/vm_network_latency_summary.py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system/vm_network_latency_details.py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分段延迟测量、长尾延迟识别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OVS 性能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ovs_upcall_latency_summary.py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ovs_userspace_megaflow.py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Upcall 延迟、流表未命中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虚拟化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vhost_eventfd_count.py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vhost_queue_correlation_details.py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vhost 队列、virtio 效率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CPU/调度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offcputime-ts.py / pthread_rwlock_wrlock.bt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Off-CPU 时间、锁竞争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217612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三层诊断模型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43000"/>
            <a:ext cx="2582317" cy="34925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181100"/>
            <a:ext cx="2582317" cy="0"/>
          </a:xfrm>
          <a:prstGeom prst="line">
            <a:avLst/>
          </a:prstGeom>
          <a:noFill/>
          <a:ln w="76200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851" y="1473101"/>
            <a:ext cx="211600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61851" y="2098477"/>
            <a:ext cx="211600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问题定位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1851" y="2539752"/>
            <a:ext cx="21160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工具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1851" y="2888903"/>
            <a:ext cx="2074515" cy="64338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9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 统计</a:t>
            </a:r>
            <a:endParaRPr lang="en-US" sz="1300" dirty="0"/>
          </a:p>
          <a:p>
            <a:pPr algn="l" marL="127000" indent="-127000">
              <a:lnSpc>
                <a:spcPts val="169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延迟分布 P50/P95/P99</a:t>
            </a:r>
            <a:endParaRPr lang="en-US" sz="1300" dirty="0"/>
          </a:p>
          <a:p>
            <a:pPr algn="l" marL="127000" indent="-127000">
              <a:lnSpc>
                <a:spcPts val="169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极低开销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1851" y="3633788"/>
            <a:ext cx="21160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运行时长：小时-天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80767" y="1143000"/>
            <a:ext cx="2582317" cy="34925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80767" y="1181100"/>
            <a:ext cx="2582317" cy="0"/>
          </a:xfrm>
          <a:prstGeom prst="line">
            <a:avLst/>
          </a:prstGeom>
          <a:noFill/>
          <a:ln w="76200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4668" y="1473101"/>
            <a:ext cx="211600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34668" y="2098477"/>
            <a:ext cx="211600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精确追踪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34668" y="2539752"/>
            <a:ext cx="21160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工具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34668" y="2888903"/>
            <a:ext cx="2074515" cy="64338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9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Per-packet 跟踪</a:t>
            </a:r>
            <a:endParaRPr lang="en-US" sz="1300" dirty="0"/>
          </a:p>
          <a:p>
            <a:pPr algn="l" marL="127000" indent="-127000">
              <a:lnSpc>
                <a:spcPts val="169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过滤器控制</a:t>
            </a:r>
            <a:endParaRPr lang="en-US" sz="1300" dirty="0"/>
          </a:p>
          <a:p>
            <a:pPr algn="l" marL="127000" indent="-127000">
              <a:lnSpc>
                <a:spcPts val="169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捕获完整路径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34668" y="3633788"/>
            <a:ext cx="21160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运行时长：分钟级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53584" y="1143000"/>
            <a:ext cx="2582317" cy="34925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53584" y="1181100"/>
            <a:ext cx="2582317" cy="0"/>
          </a:xfrm>
          <a:prstGeom prst="line">
            <a:avLst/>
          </a:prstGeom>
          <a:noFill/>
          <a:ln w="76200">
            <a:solidFill>
              <a:srgbClr val="5EA8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7485" y="1473101"/>
            <a:ext cx="211600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07485" y="2098477"/>
            <a:ext cx="211600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根因分析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7485" y="2539752"/>
            <a:ext cx="21160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专项工具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7485" y="2888903"/>
            <a:ext cx="2074515" cy="64338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9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Off-CPU 分析</a:t>
            </a:r>
            <a:endParaRPr lang="en-US" sz="1300" dirty="0"/>
          </a:p>
          <a:p>
            <a:pPr algn="l" marL="127000" indent="-127000">
              <a:lnSpc>
                <a:spcPts val="169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锁监控</a:t>
            </a:r>
            <a:endParaRPr lang="en-US" sz="1300" dirty="0"/>
          </a:p>
          <a:p>
            <a:pPr algn="l" marL="127000" indent="-127000">
              <a:lnSpc>
                <a:spcPts val="1690"/>
              </a:lnSpc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调度跟踪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7485" y="3633788"/>
            <a:ext cx="21160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运行时长：秒-分钟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217612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诊断决策流程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2667000" cy="695325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29640" y="1333500"/>
            <a:ext cx="23317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丢包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82901" y="1257300"/>
            <a:ext cx="41457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343251" y="1204913"/>
            <a:ext cx="2590800" cy="5715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72791" y="1357313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丢在哪里?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2092226"/>
            <a:ext cx="2667000" cy="695325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29640" y="2282726"/>
            <a:ext cx="23317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延迟高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82901" y="2206526"/>
            <a:ext cx="41457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43251" y="2154138"/>
            <a:ext cx="2590800" cy="5715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72791" y="2306538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慢在哪阶段?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2000" y="3041452"/>
            <a:ext cx="2667000" cy="695325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29640" y="3231952"/>
            <a:ext cx="23317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吞吐量低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82901" y="3155752"/>
            <a:ext cx="41457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43251" y="3103364"/>
            <a:ext cx="2590800" cy="5715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72791" y="3255764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瓶颈在哪层?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41450" y="3990677"/>
            <a:ext cx="5460950" cy="69532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81151" y="4181177"/>
            <a:ext cx="518154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精确定位 → Layer 3 根因确认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47638"/>
            <a:ext cx="46537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 1：ICMP "丢包" 根因分析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77724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延迟误判问题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2000" y="1724025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问题描述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047875"/>
            <a:ext cx="777240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监控报告 ICMP 丢包率 1.3% (200ms 超时阈值)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2431405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755255"/>
            <a:ext cx="777240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OpenStack + KVM + OVS，10.132.114.11 ↔ 10.132.114.12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3138785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2000" y="3462635"/>
            <a:ext cx="777240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真实内核丢包仅 </a:t>
            </a:r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0.17%</a:t>
            </a:r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，差异 1.13% 是 </a:t>
            </a:r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高延迟超时误判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3846165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2000" y="4170015"/>
            <a:ext cx="777240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OVS 流表锁竞争，revalidator 持锁 200ms 阻塞 handler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47638"/>
            <a:ext cx="263806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 1：诊断流程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43000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4118" y="1347788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0450" y="1244501"/>
            <a:ext cx="73191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kernel_drop_stack_stats_summary_all.py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0450" y="1504801"/>
            <a:ext cx="7319111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真实丢包 0.17% vs 监控"丢包" 1.3% → 问题是延迟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2057400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4118" y="2262188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0450" y="2158901"/>
            <a:ext cx="73191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system_network_latency_summary.py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0450" y="2419201"/>
            <a:ext cx="7319111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P99: 89us (正常), P99.9: 134ms (异常!) → OVS 阶段延迟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950" y="2971800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04118" y="3176588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0450" y="3073301"/>
            <a:ext cx="73191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system_network_latency_details.py --threshold 100ms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0450" y="3333601"/>
            <a:ext cx="7319111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捕获 3 个高延迟事件，都在 FLOW_EXTRACT 阶段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950" y="3886200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4118" y="4090987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0450" y="3987701"/>
            <a:ext cx="73191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offcputime-ts.py + pthread_rwlock_wrlock.bt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0450" y="4248001"/>
            <a:ext cx="7319111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 线程 187ms off-CPU，等待 fat_rwlock 读锁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47638"/>
            <a:ext cx="42470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 2：VM 网络间歇性不通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77724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virtio-net 中断风暴根因分析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2000" y="1724025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症状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047875"/>
            <a:ext cx="777240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内部网络间歇性不通，SSH 连接断连，持续数分钟后自动恢复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2431405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755255"/>
            <a:ext cx="777240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OpenStack + KVM/QEMU (ARM64)，OVS → vhost-net → virtio-net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3138785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2000" y="3462635"/>
            <a:ext cx="777240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2 的 </a:t>
            </a:r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IRQ 69 被内核禁用</a:t>
            </a:r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："irq 69: nobody cared"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3846165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2000" y="4170015"/>
            <a:ext cx="777240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SO_BUSY_POLL</a:t>
            </a:r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主动轮询与中断竞争 → IRQ_NONE 比例 10-20% → 触发内核保护机制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47638"/>
            <a:ext cx="297476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 2：完整因果链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430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层递进式分析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584275"/>
            <a:ext cx="8128099" cy="220087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6050" y="1584275"/>
            <a:ext cx="0" cy="2200870"/>
          </a:xfrm>
          <a:prstGeom prst="line">
            <a:avLst/>
          </a:prstGeom>
          <a:noFill/>
          <a:ln w="7620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4650" y="1774775"/>
            <a:ext cx="7824317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SO_BUSY_POLL 启用 (net.core.busy_poll=50)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4650" y="2078087"/>
            <a:ext cx="7824317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用户态频繁调用 napi_busy_loop (84%)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4650" y="2381399"/>
            <a:ext cx="7824317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busy_loop 抢先处理 vring 数据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4650" y="2684711"/>
            <a:ext cx="7824317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中断到达时数据已处理 → IRQ_NONE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4650" y="2988022"/>
            <a:ext cx="7824317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IRQ_NONE 累积达阈值，内核禁用 IRQ 69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4650" y="3291334"/>
            <a:ext cx="7824317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Queue 2 失效，VM 网络不通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950" y="3937546"/>
            <a:ext cx="8128099" cy="85725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2117" y="4089946"/>
            <a:ext cx="79797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修复：sysctl -w net.core.busy_poll=0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2117" y="4413796"/>
            <a:ext cx="79797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IRQ_NONE 下降 95% (10.2% → 0.49%)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217612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性能测试数据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工具：极低开销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1647825"/>
            <a:ext cx="7620000" cy="134540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0575" y="1647825"/>
            <a:ext cx="0" cy="1345406"/>
          </a:xfrm>
          <a:prstGeom prst="line">
            <a:avLst/>
          </a:prstGeom>
          <a:noFill/>
          <a:ln w="57150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1550" y="1800225"/>
            <a:ext cx="74032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system_network_performance_metrics.py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1550" y="2114550"/>
            <a:ext cx="7258050" cy="72628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测试流量：120 万 PPS，30 分钟</a:t>
            </a:r>
            <a:endParaRPr lang="en-US" sz="1400" dirty="0"/>
          </a:p>
          <a:p>
            <a:pPr algn="l" marL="127000" indent="-127000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平均：</a:t>
            </a:r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0.59%</a:t>
            </a:r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，吞吐量影响：</a:t>
            </a:r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-0.33%</a:t>
            </a:r>
            <a:endParaRPr lang="en-US" sz="1400" dirty="0"/>
          </a:p>
          <a:p>
            <a:pPr algn="l" marL="127000" indent="-127000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结论：可持续运行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3145631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工具：开销可控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2000" y="3650456"/>
            <a:ext cx="7620000" cy="112901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90575" y="3650456"/>
            <a:ext cx="0" cy="1129010"/>
          </a:xfrm>
          <a:prstGeom prst="line">
            <a:avLst/>
          </a:prstGeom>
          <a:noFill/>
          <a:ln w="57150">
            <a:solidFill>
              <a:srgbClr val="5EA8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1550" y="3802856"/>
            <a:ext cx="74032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过滤器灵活控制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1550" y="4164806"/>
            <a:ext cx="7258050" cy="46226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五元组过滤：~1K evt/s，CPU ~0.5%</a:t>
            </a:r>
            <a:endParaRPr lang="en-US" sz="1400" dirty="0"/>
          </a:p>
          <a:p>
            <a:pPr algn="l" marL="127000" indent="-127000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阈值过滤 (&gt;100ms)：~100 evt/s，CPU &lt;0.1%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255912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演示场景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43000"/>
            <a:ext cx="2582317" cy="34925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171575"/>
            <a:ext cx="2582317" cy="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1390650"/>
            <a:ext cx="224534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98450" y="1984325"/>
            <a:ext cx="2245343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drop_stack_stats_summary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8450" y="2309217"/>
            <a:ext cx="22453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丢包定位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8450" y="2683818"/>
            <a:ext cx="2245343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自动聚合栈，精确到内核函数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80767" y="1143000"/>
            <a:ext cx="2582317" cy="34925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80767" y="1171575"/>
            <a:ext cx="2582317" cy="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1267" y="1390650"/>
            <a:ext cx="224534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71267" y="1984325"/>
            <a:ext cx="2245343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network_latency_summary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1267" y="2309217"/>
            <a:ext cx="22453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延迟分析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1267" y="2683818"/>
            <a:ext cx="2245343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 可视化，识别长尾延迟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53584" y="1143000"/>
            <a:ext cx="2582317" cy="34925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53584" y="1171575"/>
            <a:ext cx="2582317" cy="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4084" y="1390650"/>
            <a:ext cx="224534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244084" y="1984325"/>
            <a:ext cx="2245343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ovs_userspace_megaflow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44084" y="2309217"/>
            <a:ext cx="22453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OVS 追踪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44084" y="2683818"/>
            <a:ext cx="2245343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追踪 Megaflow 生命周期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145079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571500" cy="571500"/>
          </a:xfrm>
          <a:prstGeom prst="roundRect">
            <a:avLst>
              <a:gd name="adj" fmla="val 17778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70062" y="1266825"/>
            <a:ext cx="1584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85900" y="1181100"/>
            <a:ext cx="70340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三层诊断模型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85900" y="1549301"/>
            <a:ext cx="703402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(长期监控) + Details (精确追踪) + 专项工具 (根因分析)，平衡性能开销与监控精度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1899642"/>
            <a:ext cx="571500" cy="571500"/>
          </a:xfrm>
          <a:prstGeom prst="roundRect">
            <a:avLst>
              <a:gd name="adj" fmla="val 17778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70062" y="2023467"/>
            <a:ext cx="1584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85900" y="1937742"/>
            <a:ext cx="70340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性能开销可控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85900" y="2305943"/>
            <a:ext cx="703402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工具极低开销，Details 工具通过多级过滤和多阶段整合，资源占用灵活可调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2000" y="2656284"/>
            <a:ext cx="571500" cy="571500"/>
          </a:xfrm>
          <a:prstGeom prst="roundRect">
            <a:avLst>
              <a:gd name="adj" fmla="val 17778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70062" y="2780109"/>
            <a:ext cx="1584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85900" y="2694384"/>
            <a:ext cx="70340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全链路覆盖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5900" y="3062585"/>
            <a:ext cx="703402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→ vhost → TUN/TAP → OVS → Linux 栈 → 物理网卡，30+ 工具按层次、按问题分类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2000" y="3412927"/>
            <a:ext cx="571500" cy="571500"/>
          </a:xfrm>
          <a:prstGeom prst="roundRect">
            <a:avLst>
              <a:gd name="adj" fmla="val 17778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70062" y="3536752"/>
            <a:ext cx="1584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85900" y="3451027"/>
            <a:ext cx="70340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精确测量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85900" y="3819227"/>
            <a:ext cx="703402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分阶段延迟测量 (纳秒级)，skb 指针跨层追踪，时间戳 + 调用栈上下文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8588"/>
            <a:ext cx="145079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应用价值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143000"/>
            <a:ext cx="4060627" cy="70068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8713" y="1143000"/>
            <a:ext cx="0" cy="700683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4027" y="1244501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 MTTR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4027" y="1574602"/>
            <a:ext cx="388620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从数小时降至分钟级，效率提升 10-100 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1945184"/>
            <a:ext cx="4060627" cy="70068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58713" y="1945184"/>
            <a:ext cx="0" cy="700683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4027" y="2046684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量化网络性能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4027" y="2376785"/>
            <a:ext cx="388620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建立各层次性能基线，精确定位瓶颈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901" y="2747367"/>
            <a:ext cx="4060627" cy="70068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8713" y="2747367"/>
            <a:ext cx="0" cy="700683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4027" y="2848868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降低运维成本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4027" y="3178969"/>
            <a:ext cx="388620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自动化故障定位，减少对专家依赖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4901" y="3549551"/>
            <a:ext cx="4060627" cy="70068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58713" y="3549551"/>
            <a:ext cx="0" cy="700683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027" y="3651052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赋能技术团队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4027" y="3981152"/>
            <a:ext cx="388620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深入理解虚拟化网络，提升技术能力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4901" y="4377035"/>
            <a:ext cx="7874198" cy="3048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5021" y="4415135"/>
            <a:ext cx="7953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eBPF: 网络故障排查进入"可观测时代"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6527" y="1331863"/>
            <a:ext cx="1450797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2667000" y="3084463"/>
            <a:ext cx="3810000" cy="5075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4392" y="3516213"/>
            <a:ext cx="273521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eBPF 网络故障排查工具集介绍</dc:title>
  <dc:subject>PptxGenJS Presentation</dc:subject>
  <dc:creator>eBPF Network Troubleshooting Tools Team</dc:creator>
  <cp:lastModifiedBy>eBPF Network Troubleshooting Tools Team</cp:lastModifiedBy>
  <cp:revision>1</cp:revision>
  <dcterms:created xsi:type="dcterms:W3CDTF">2025-10-24T02:10:15Z</dcterms:created>
  <dcterms:modified xsi:type="dcterms:W3CDTF">2025-10-24T02:10:15Z</dcterms:modified>
</cp:coreProperties>
</file>